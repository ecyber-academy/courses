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Lato Bold" charset="1" panose="020F0502020204030203"/>
      <p:regular r:id="rId11"/>
    </p:embeddedFont>
    <p:embeddedFont>
      <p:font typeface="Poppins Light" charset="1" panose="02000000000000000000"/>
      <p:regular r:id="rId12"/>
    </p:embeddedFont>
    <p:embeddedFont>
      <p:font typeface="Lato" charset="1" panose="020F05020202040302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1779" y="4007815"/>
            <a:ext cx="8240275" cy="3296110"/>
          </a:xfrm>
          <a:custGeom>
            <a:avLst/>
            <a:gdLst/>
            <a:ahLst/>
            <a:cxnLst/>
            <a:rect r="r" b="b" t="t" l="l"/>
            <a:pathLst>
              <a:path h="3296110" w="8240275">
                <a:moveTo>
                  <a:pt x="0" y="0"/>
                </a:moveTo>
                <a:lnTo>
                  <a:pt x="8240275" y="0"/>
                </a:lnTo>
                <a:lnTo>
                  <a:pt x="8240275" y="3296110"/>
                </a:lnTo>
                <a:lnTo>
                  <a:pt x="0" y="3296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92901" y="4762833"/>
            <a:ext cx="14578033" cy="133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23"/>
              </a:lnSpc>
            </a:pPr>
            <a:r>
              <a:rPr lang="en-US" b="true" sz="10023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Python for  Researchers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59479" y="8173266"/>
            <a:ext cx="2624645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Session 10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967637" y="286951"/>
            <a:ext cx="5198563" cy="1999447"/>
          </a:xfrm>
          <a:custGeom>
            <a:avLst/>
            <a:gdLst/>
            <a:ahLst/>
            <a:cxnLst/>
            <a:rect r="r" b="b" t="t" l="l"/>
            <a:pathLst>
              <a:path h="1999447" w="5198563">
                <a:moveTo>
                  <a:pt x="0" y="0"/>
                </a:moveTo>
                <a:lnTo>
                  <a:pt x="5198564" y="0"/>
                </a:lnTo>
                <a:lnTo>
                  <a:pt x="5198564" y="1999448"/>
                </a:lnTo>
                <a:lnTo>
                  <a:pt x="0" y="19994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252" y="142499"/>
            <a:ext cx="4673231" cy="2850671"/>
          </a:xfrm>
          <a:custGeom>
            <a:avLst/>
            <a:gdLst/>
            <a:ahLst/>
            <a:cxnLst/>
            <a:rect r="r" b="b" t="t" l="l"/>
            <a:pathLst>
              <a:path h="2850671" w="4673231">
                <a:moveTo>
                  <a:pt x="0" y="0"/>
                </a:moveTo>
                <a:lnTo>
                  <a:pt x="4673232" y="0"/>
                </a:lnTo>
                <a:lnTo>
                  <a:pt x="4673232" y="2850671"/>
                </a:lnTo>
                <a:lnTo>
                  <a:pt x="0" y="2850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98039" y="2945065"/>
            <a:ext cx="9891922" cy="3956769"/>
          </a:xfrm>
          <a:custGeom>
            <a:avLst/>
            <a:gdLst/>
            <a:ahLst/>
            <a:cxnLst/>
            <a:rect r="r" b="b" t="t" l="l"/>
            <a:pathLst>
              <a:path h="3956769" w="9891922">
                <a:moveTo>
                  <a:pt x="0" y="0"/>
                </a:moveTo>
                <a:lnTo>
                  <a:pt x="9891922" y="0"/>
                </a:lnTo>
                <a:lnTo>
                  <a:pt x="9891922" y="3956769"/>
                </a:lnTo>
                <a:lnTo>
                  <a:pt x="0" y="3956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46643" y="3371520"/>
            <a:ext cx="9646586" cy="315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94"/>
              </a:lnSpc>
            </a:pPr>
            <a:r>
              <a:rPr lang="en-US" b="true" sz="1209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Course Summary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5111" y="457200"/>
            <a:ext cx="12448636" cy="103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98"/>
              </a:lnSpc>
              <a:spcBef>
                <a:spcPct val="0"/>
              </a:spcBef>
            </a:pPr>
            <a:r>
              <a:rPr lang="en-US" sz="683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Python Basics for Researchers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10498" y="2504864"/>
            <a:ext cx="14533439" cy="578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6"/>
              </a:lnSpc>
            </a:pPr>
          </a:p>
          <a:p>
            <a:pPr algn="l">
              <a:lnSpc>
                <a:spcPts val="4596"/>
              </a:lnSpc>
            </a:pP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🧱 Core Concepts</a:t>
            </a:r>
          </a:p>
          <a:p>
            <a:pPr algn="l" marL="827000" indent="-413500" lvl="1">
              <a:lnSpc>
                <a:spcPts val="4596"/>
              </a:lnSpc>
              <a:buFont typeface="Arial"/>
              <a:buChar char="•"/>
            </a:pP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ariables,</a:t>
            </a: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data types, and operators</a:t>
            </a:r>
          </a:p>
          <a:p>
            <a:pPr algn="l" marL="827000" indent="-413500" lvl="1">
              <a:lnSpc>
                <a:spcPts val="4596"/>
              </a:lnSpc>
              <a:buFont typeface="Arial"/>
              <a:buChar char="•"/>
            </a:pP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ondi</a:t>
            </a: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tional statemen</a:t>
            </a: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ts and loops</a:t>
            </a:r>
          </a:p>
          <a:p>
            <a:pPr algn="l" marL="827000" indent="-413500" lvl="1">
              <a:lnSpc>
                <a:spcPts val="4596"/>
              </a:lnSpc>
              <a:buFont typeface="Arial"/>
              <a:buChar char="•"/>
            </a:pP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Built-in func</a:t>
            </a: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tions and how</a:t>
            </a: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to define your own</a:t>
            </a:r>
          </a:p>
          <a:p>
            <a:pPr algn="l" marL="827000" indent="-413500" lvl="1">
              <a:lnSpc>
                <a:spcPts val="4596"/>
              </a:lnSpc>
              <a:buFont typeface="Arial"/>
              <a:buChar char="•"/>
            </a:pP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st</a:t>
            </a: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ructu</a:t>
            </a: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res: l</a:t>
            </a: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ists, tuples, dictionaries, and sets</a:t>
            </a:r>
          </a:p>
          <a:p>
            <a:pPr algn="l">
              <a:lnSpc>
                <a:spcPts val="4596"/>
              </a:lnSpc>
            </a:pP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🛠️</a:t>
            </a: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Skills Gained</a:t>
            </a:r>
          </a:p>
          <a:p>
            <a:pPr algn="l" marL="827000" indent="-413500" lvl="1">
              <a:lnSpc>
                <a:spcPts val="4596"/>
              </a:lnSpc>
              <a:buFont typeface="Arial"/>
              <a:buChar char="•"/>
            </a:pP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Writing cle</a:t>
            </a: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an, readable Python co</a:t>
            </a: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</a:t>
            </a:r>
          </a:p>
          <a:p>
            <a:pPr algn="l" marL="827000" indent="-413500" lvl="1">
              <a:lnSpc>
                <a:spcPts val="4596"/>
              </a:lnSpc>
              <a:buFont typeface="Arial"/>
              <a:buChar char="•"/>
            </a:pP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Using l</a:t>
            </a: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ogic</a:t>
            </a: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to automate repetit</a:t>
            </a:r>
            <a:r>
              <a:rPr lang="en-US" sz="38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ive tasks</a:t>
            </a:r>
          </a:p>
          <a:p>
            <a:pPr algn="l">
              <a:lnSpc>
                <a:spcPts val="459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7032" y="504825"/>
            <a:ext cx="1455251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0"/>
              </a:lnSpc>
              <a:spcBef>
                <a:spcPct val="0"/>
              </a:spcBef>
            </a:pPr>
            <a:r>
              <a:rPr lang="en-US" sz="6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Working with Data and Visualizat</a:t>
            </a:r>
            <a:r>
              <a:rPr lang="en-US" sz="6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72784" y="2180184"/>
            <a:ext cx="14018657" cy="5588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3"/>
              </a:lnSpc>
            </a:pPr>
          </a:p>
          <a:p>
            <a:pPr algn="l">
              <a:lnSpc>
                <a:spcPts val="4433"/>
              </a:lnSpc>
            </a:pP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📁 Data Han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dling</a:t>
            </a:r>
          </a:p>
          <a:p>
            <a:pPr algn="l" marL="797707" indent="-398854" lvl="1">
              <a:lnSpc>
                <a:spcPts val="4433"/>
              </a:lnSpc>
              <a:buFont typeface="Arial"/>
              <a:buChar char="•"/>
            </a:pP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Using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pa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ndas to import, inspect, clean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and transform data</a:t>
            </a:r>
          </a:p>
          <a:p>
            <a:pPr algn="l" marL="797707" indent="-398854" lvl="1">
              <a:lnSpc>
                <a:spcPts val="4433"/>
              </a:lnSpc>
              <a:buFont typeface="Arial"/>
              <a:buChar char="•"/>
            </a:pP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Manag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ing data from different sources (CSV,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Excel,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web)</a:t>
            </a:r>
          </a:p>
          <a:p>
            <a:pPr algn="l">
              <a:lnSpc>
                <a:spcPts val="4433"/>
              </a:lnSpc>
            </a:pP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📈 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isu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aliza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tion Tool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</a:t>
            </a:r>
          </a:p>
          <a:p>
            <a:pPr algn="l" marL="797707" indent="-398854" lvl="1">
              <a:lnSpc>
                <a:spcPts val="4433"/>
              </a:lnSpc>
              <a:buFont typeface="Arial"/>
              <a:buChar char="•"/>
            </a:pP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Cre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ating and customizing plots using matplotlib and seaborn</a:t>
            </a:r>
          </a:p>
          <a:p>
            <a:pPr algn="l" marL="797707" indent="-398854" lvl="1">
              <a:lnSpc>
                <a:spcPts val="4433"/>
              </a:lnSpc>
              <a:buFont typeface="Arial"/>
              <a:buChar char="•"/>
            </a:pP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Communicating data insights visually</a:t>
            </a:r>
          </a:p>
          <a:p>
            <a:pPr algn="l">
              <a:lnSpc>
                <a:spcPts val="4433"/>
              </a:lnSpc>
            </a:pP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📋 Statistical Analysis</a:t>
            </a:r>
          </a:p>
          <a:p>
            <a:pPr algn="l" marL="797707" indent="-398854" lvl="1">
              <a:lnSpc>
                <a:spcPts val="4433"/>
              </a:lnSpc>
              <a:buFont typeface="Arial"/>
              <a:buChar char="•"/>
            </a:pP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Performing basic statistical analysis 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usi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ng NumPy and Scipy</a:t>
            </a:r>
          </a:p>
          <a:p>
            <a:pPr algn="l">
              <a:lnSpc>
                <a:spcPts val="443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7032" y="504825"/>
            <a:ext cx="1421021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0"/>
              </a:lnSpc>
              <a:spcBef>
                <a:spcPct val="0"/>
              </a:spcBef>
            </a:pPr>
            <a:r>
              <a:rPr lang="en-US" sz="6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Reproducibility, Automati</a:t>
            </a:r>
            <a:r>
              <a:rPr lang="en-US" sz="6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on, and ML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48641"/>
            <a:ext cx="14018657" cy="6704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3"/>
              </a:lnSpc>
            </a:pP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📚 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upyter Notebooks</a:t>
            </a:r>
          </a:p>
          <a:p>
            <a:pPr algn="l" marL="797707" indent="-398854" lvl="1">
              <a:lnSpc>
                <a:spcPts val="4433"/>
              </a:lnSpc>
              <a:buFont typeface="Arial"/>
              <a:buChar char="•"/>
            </a:pP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Combining code, text, and visualizations for reproducible research</a:t>
            </a:r>
          </a:p>
          <a:p>
            <a:pPr algn="l" marL="797707" indent="-398854" lvl="1">
              <a:lnSpc>
                <a:spcPts val="4433"/>
              </a:lnSpc>
              <a:buFont typeface="Arial"/>
              <a:buChar char="•"/>
            </a:pP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Exp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orting and sharing notebooks with collaborators</a:t>
            </a:r>
          </a:p>
          <a:p>
            <a:pPr algn="l">
              <a:lnSpc>
                <a:spcPts val="4433"/>
              </a:lnSpc>
            </a:pPr>
          </a:p>
          <a:p>
            <a:pPr algn="l">
              <a:lnSpc>
                <a:spcPts val="4433"/>
              </a:lnSpc>
            </a:pP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⚙️ Automation &amp; Analysis</a:t>
            </a:r>
          </a:p>
          <a:p>
            <a:pPr algn="l" marL="797707" indent="-398854" lvl="1">
              <a:lnSpc>
                <a:spcPts val="4433"/>
              </a:lnSpc>
              <a:buFont typeface="Arial"/>
              <a:buChar char="•"/>
            </a:pP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riting scripts to autom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ate 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processing</a:t>
            </a:r>
          </a:p>
          <a:p>
            <a:pPr algn="l">
              <a:lnSpc>
                <a:spcPts val="4433"/>
              </a:lnSpc>
            </a:pPr>
          </a:p>
          <a:p>
            <a:pPr algn="l">
              <a:lnSpc>
                <a:spcPts val="4433"/>
              </a:lnSpc>
            </a:pP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🛠️ 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tro to machin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learning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with scikit-learn</a:t>
            </a:r>
          </a:p>
          <a:p>
            <a:pPr algn="l" marL="797707" indent="-398854" lvl="1">
              <a:lnSpc>
                <a:spcPts val="4433"/>
              </a:lnSpc>
              <a:buFont typeface="Arial"/>
              <a:buChar char="•"/>
            </a:pP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Supervised vs. unsupervised learning</a:t>
            </a:r>
          </a:p>
          <a:p>
            <a:pPr algn="l" marL="797707" indent="-398854" lvl="1">
              <a:lnSpc>
                <a:spcPts val="4433"/>
              </a:lnSpc>
              <a:buFont typeface="Arial"/>
              <a:buChar char="•"/>
            </a:pP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Building and evaluating simple mo</a:t>
            </a:r>
            <a:r>
              <a:rPr lang="en-US" sz="369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dels</a:t>
            </a:r>
          </a:p>
          <a:p>
            <a:pPr algn="l">
              <a:lnSpc>
                <a:spcPts val="443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DAG8_Qk5mOo</dc:identifier>
  <dcterms:modified xsi:type="dcterms:W3CDTF">2011-08-01T06:04:30Z</dcterms:modified>
  <cp:revision>1</cp:revision>
  <dc:title>Session 10 - Summary</dc:title>
</cp:coreProperties>
</file>
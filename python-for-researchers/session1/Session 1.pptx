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Lato Bold" charset="1" panose="020F0502020204030203"/>
      <p:regular r:id="rId12"/>
    </p:embeddedFont>
    <p:embeddedFont>
      <p:font typeface="Lato" charset="1" panose="020F0502020204030203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0922725" cy="10287000"/>
            <a:chOff x="0" y="0"/>
            <a:chExt cx="14563633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563598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4563598">
                  <a:moveTo>
                    <a:pt x="0" y="0"/>
                  </a:moveTo>
                  <a:lnTo>
                    <a:pt x="14563598" y="0"/>
                  </a:lnTo>
                  <a:lnTo>
                    <a:pt x="14563598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487132" y="2623628"/>
            <a:ext cx="13313735" cy="5325494"/>
          </a:xfrm>
          <a:custGeom>
            <a:avLst/>
            <a:gdLst/>
            <a:ahLst/>
            <a:cxnLst/>
            <a:rect r="r" b="b" t="t" l="l"/>
            <a:pathLst>
              <a:path h="5325494" w="13313735">
                <a:moveTo>
                  <a:pt x="0" y="0"/>
                </a:moveTo>
                <a:lnTo>
                  <a:pt x="13313735" y="0"/>
                </a:lnTo>
                <a:lnTo>
                  <a:pt x="13313735" y="5325494"/>
                </a:lnTo>
                <a:lnTo>
                  <a:pt x="0" y="53254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71" r="0" b="-71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992901" y="3103945"/>
            <a:ext cx="14302199" cy="4358936"/>
            <a:chOff x="0" y="0"/>
            <a:chExt cx="19069599" cy="581191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069599" cy="5811915"/>
            </a:xfrm>
            <a:custGeom>
              <a:avLst/>
              <a:gdLst/>
              <a:ahLst/>
              <a:cxnLst/>
              <a:rect r="r" b="b" t="t" l="l"/>
              <a:pathLst>
                <a:path h="5811915" w="19069599">
                  <a:moveTo>
                    <a:pt x="0" y="0"/>
                  </a:moveTo>
                  <a:lnTo>
                    <a:pt x="19069599" y="0"/>
                  </a:lnTo>
                  <a:lnTo>
                    <a:pt x="19069599" y="5811915"/>
                  </a:lnTo>
                  <a:lnTo>
                    <a:pt x="0" y="58119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238125"/>
              <a:ext cx="19069599" cy="557379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13034"/>
                </a:lnSpc>
              </a:pPr>
              <a:r>
                <a:rPr lang="en-US" sz="13034" b="true">
                  <a:solidFill>
                    <a:srgbClr val="000000"/>
                  </a:solidFill>
                  <a:latin typeface="Lato Bold"/>
                  <a:ea typeface="Lato Bold"/>
                  <a:cs typeface="Lato Bold"/>
                  <a:sym typeface="Lato Bold"/>
                </a:rPr>
                <a:t>Python for  Researchers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989468" y="343754"/>
            <a:ext cx="2309064" cy="888101"/>
            <a:chOff x="0" y="0"/>
            <a:chExt cx="3078752" cy="11841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078734" cy="1184148"/>
            </a:xfrm>
            <a:custGeom>
              <a:avLst/>
              <a:gdLst/>
              <a:ahLst/>
              <a:cxnLst/>
              <a:rect r="r" b="b" t="t" l="l"/>
              <a:pathLst>
                <a:path h="1184148" w="3078734">
                  <a:moveTo>
                    <a:pt x="0" y="0"/>
                  </a:moveTo>
                  <a:lnTo>
                    <a:pt x="3078734" y="0"/>
                  </a:lnTo>
                  <a:lnTo>
                    <a:pt x="3078734" y="1184148"/>
                  </a:lnTo>
                  <a:lnTo>
                    <a:pt x="0" y="11841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705225"/>
            <a:ext cx="5968654" cy="2876550"/>
            <a:chOff x="0" y="0"/>
            <a:chExt cx="7958205" cy="3835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958206" cy="3835400"/>
            </a:xfrm>
            <a:custGeom>
              <a:avLst/>
              <a:gdLst/>
              <a:ahLst/>
              <a:cxnLst/>
              <a:rect r="r" b="b" t="t" l="l"/>
              <a:pathLst>
                <a:path h="3835400" w="7958206">
                  <a:moveTo>
                    <a:pt x="0" y="0"/>
                  </a:moveTo>
                  <a:lnTo>
                    <a:pt x="7958206" y="0"/>
                  </a:lnTo>
                  <a:lnTo>
                    <a:pt x="7958206" y="3835400"/>
                  </a:lnTo>
                  <a:lnTo>
                    <a:pt x="0" y="38354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7958205" cy="383540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11340"/>
                </a:lnSpc>
              </a:pPr>
              <a:r>
                <a:rPr lang="en-US" sz="9450" b="true">
                  <a:solidFill>
                    <a:srgbClr val="545454"/>
                  </a:solidFill>
                  <a:latin typeface="Lato Bold"/>
                  <a:ea typeface="Lato Bold"/>
                  <a:cs typeface="Lato Bold"/>
                  <a:sym typeface="Lato Bold"/>
                </a:rPr>
                <a:t>Course Overview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104982" y="4919643"/>
            <a:ext cx="9486600" cy="1137160"/>
            <a:chOff x="0" y="0"/>
            <a:chExt cx="12648800" cy="15162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648800" cy="1516214"/>
            </a:xfrm>
            <a:custGeom>
              <a:avLst/>
              <a:gdLst/>
              <a:ahLst/>
              <a:cxnLst/>
              <a:rect r="r" b="b" t="t" l="l"/>
              <a:pathLst>
                <a:path h="1516214" w="12648800">
                  <a:moveTo>
                    <a:pt x="0" y="0"/>
                  </a:moveTo>
                  <a:lnTo>
                    <a:pt x="12648800" y="0"/>
                  </a:lnTo>
                  <a:lnTo>
                    <a:pt x="12648800" y="1516214"/>
                  </a:lnTo>
                  <a:lnTo>
                    <a:pt x="0" y="15162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0"/>
              <a:ext cx="12648800" cy="1611464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661"/>
                </a:lnSpc>
              </a:pPr>
              <a:r>
                <a:rPr lang="en-US" sz="3106">
                  <a:solidFill>
                    <a:srgbClr val="545454"/>
                  </a:solidFill>
                  <a:latin typeface="Lato"/>
                  <a:ea typeface="Lato"/>
                  <a:cs typeface="Lato"/>
                  <a:sym typeface="Lato"/>
                </a:rPr>
                <a:t>Duration: Total time (hours): 18 online + 12 Virtual (Self-paced)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04982" y="6530511"/>
            <a:ext cx="9486600" cy="1137160"/>
            <a:chOff x="0" y="0"/>
            <a:chExt cx="12648800" cy="151621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648800" cy="1516214"/>
            </a:xfrm>
            <a:custGeom>
              <a:avLst/>
              <a:gdLst/>
              <a:ahLst/>
              <a:cxnLst/>
              <a:rect r="r" b="b" t="t" l="l"/>
              <a:pathLst>
                <a:path h="1516214" w="12648800">
                  <a:moveTo>
                    <a:pt x="0" y="0"/>
                  </a:moveTo>
                  <a:lnTo>
                    <a:pt x="12648800" y="0"/>
                  </a:lnTo>
                  <a:lnTo>
                    <a:pt x="12648800" y="1516214"/>
                  </a:lnTo>
                  <a:lnTo>
                    <a:pt x="0" y="15162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0"/>
              <a:ext cx="12648800" cy="1611464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661"/>
                </a:lnSpc>
              </a:pPr>
              <a:r>
                <a:rPr lang="en-US" sz="3106">
                  <a:solidFill>
                    <a:srgbClr val="545454"/>
                  </a:solidFill>
                  <a:latin typeface="Lato"/>
                  <a:ea typeface="Lato"/>
                  <a:cs typeface="Lato"/>
                  <a:sym typeface="Lato"/>
                </a:rPr>
                <a:t>Format: Interactive sessions with practical examples and activities, plus online practice.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104982" y="2717537"/>
            <a:ext cx="9486600" cy="1724673"/>
            <a:chOff x="0" y="0"/>
            <a:chExt cx="12648800" cy="229956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648800" cy="2299564"/>
            </a:xfrm>
            <a:custGeom>
              <a:avLst/>
              <a:gdLst/>
              <a:ahLst/>
              <a:cxnLst/>
              <a:rect r="r" b="b" t="t" l="l"/>
              <a:pathLst>
                <a:path h="2299564" w="12648800">
                  <a:moveTo>
                    <a:pt x="0" y="0"/>
                  </a:moveTo>
                  <a:lnTo>
                    <a:pt x="12648800" y="0"/>
                  </a:lnTo>
                  <a:lnTo>
                    <a:pt x="12648800" y="2299564"/>
                  </a:lnTo>
                  <a:lnTo>
                    <a:pt x="0" y="229956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0"/>
              <a:ext cx="12648800" cy="2394814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661"/>
                </a:lnSpc>
              </a:pPr>
              <a:r>
                <a:rPr lang="en-US" sz="3106">
                  <a:solidFill>
                    <a:srgbClr val="545454"/>
                  </a:solidFill>
                  <a:latin typeface="Lato"/>
                  <a:ea typeface="Lato"/>
                  <a:cs typeface="Lato"/>
                  <a:sym typeface="Lato"/>
                </a:rPr>
                <a:t>Objective: Provide researchers with practical Python programming skills for data analysis, visualization, and automation, tailored to academic and research needs.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646785" y="-4762"/>
            <a:ext cx="9525" cy="10296525"/>
            <a:chOff x="0" y="0"/>
            <a:chExt cx="12700" cy="137287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6350"/>
              <a:ext cx="127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2700">
                  <a:moveTo>
                    <a:pt x="0" y="13716000"/>
                  </a:moveTo>
                  <a:lnTo>
                    <a:pt x="0" y="0"/>
                  </a:lnTo>
                  <a:lnTo>
                    <a:pt x="12700" y="0"/>
                  </a:lnTo>
                  <a:lnTo>
                    <a:pt x="12700" y="137160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988160" y="1562470"/>
            <a:ext cx="7101704" cy="9525"/>
            <a:chOff x="0" y="0"/>
            <a:chExt cx="9468939" cy="12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68993" cy="12700"/>
            </a:xfrm>
            <a:custGeom>
              <a:avLst/>
              <a:gdLst/>
              <a:ahLst/>
              <a:cxnLst/>
              <a:rect r="r" b="b" t="t" l="l"/>
              <a:pathLst>
                <a:path h="12700" w="9468993">
                  <a:moveTo>
                    <a:pt x="6350" y="0"/>
                  </a:moveTo>
                  <a:lnTo>
                    <a:pt x="9462643" y="0"/>
                  </a:lnTo>
                  <a:cubicBezTo>
                    <a:pt x="9466200" y="0"/>
                    <a:pt x="9468993" y="2794"/>
                    <a:pt x="9468993" y="6350"/>
                  </a:cubicBezTo>
                  <a:cubicBezTo>
                    <a:pt x="9468993" y="9906"/>
                    <a:pt x="9466200" y="12700"/>
                    <a:pt x="9462643" y="12700"/>
                  </a:cubicBezTo>
                  <a:lnTo>
                    <a:pt x="6350" y="12700"/>
                  </a:lnTo>
                  <a:cubicBezTo>
                    <a:pt x="2794" y="12700"/>
                    <a:pt x="0" y="9906"/>
                    <a:pt x="0" y="6350"/>
                  </a:cubicBezTo>
                  <a:cubicBezTo>
                    <a:pt x="0" y="2794"/>
                    <a:pt x="2794" y="0"/>
                    <a:pt x="6350" y="0"/>
                  </a:cubicBezTo>
                  <a:close/>
                </a:path>
              </a:pathLst>
            </a:custGeom>
            <a:solidFill>
              <a:srgbClr val="2B529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988160" y="2444165"/>
            <a:ext cx="7101704" cy="9525"/>
            <a:chOff x="0" y="0"/>
            <a:chExt cx="9468939" cy="127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468993" cy="12700"/>
            </a:xfrm>
            <a:custGeom>
              <a:avLst/>
              <a:gdLst/>
              <a:ahLst/>
              <a:cxnLst/>
              <a:rect r="r" b="b" t="t" l="l"/>
              <a:pathLst>
                <a:path h="12700" w="9468993">
                  <a:moveTo>
                    <a:pt x="6350" y="0"/>
                  </a:moveTo>
                  <a:lnTo>
                    <a:pt x="9462643" y="0"/>
                  </a:lnTo>
                  <a:cubicBezTo>
                    <a:pt x="9466200" y="0"/>
                    <a:pt x="9468993" y="2794"/>
                    <a:pt x="9468993" y="6350"/>
                  </a:cubicBezTo>
                  <a:cubicBezTo>
                    <a:pt x="9468993" y="9906"/>
                    <a:pt x="9466200" y="12700"/>
                    <a:pt x="9462643" y="12700"/>
                  </a:cubicBezTo>
                  <a:lnTo>
                    <a:pt x="6350" y="12700"/>
                  </a:lnTo>
                  <a:cubicBezTo>
                    <a:pt x="2794" y="12700"/>
                    <a:pt x="0" y="9906"/>
                    <a:pt x="0" y="6350"/>
                  </a:cubicBezTo>
                  <a:cubicBezTo>
                    <a:pt x="0" y="2794"/>
                    <a:pt x="2794" y="0"/>
                    <a:pt x="6350" y="0"/>
                  </a:cubicBezTo>
                  <a:close/>
                </a:path>
              </a:pathLst>
            </a:custGeom>
            <a:solidFill>
              <a:srgbClr val="2B529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88160" y="3325861"/>
            <a:ext cx="7101704" cy="9525"/>
            <a:chOff x="0" y="0"/>
            <a:chExt cx="9468939" cy="12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468993" cy="12700"/>
            </a:xfrm>
            <a:custGeom>
              <a:avLst/>
              <a:gdLst/>
              <a:ahLst/>
              <a:cxnLst/>
              <a:rect r="r" b="b" t="t" l="l"/>
              <a:pathLst>
                <a:path h="12700" w="9468993">
                  <a:moveTo>
                    <a:pt x="6350" y="0"/>
                  </a:moveTo>
                  <a:lnTo>
                    <a:pt x="9462643" y="0"/>
                  </a:lnTo>
                  <a:cubicBezTo>
                    <a:pt x="9466200" y="0"/>
                    <a:pt x="9468993" y="2794"/>
                    <a:pt x="9468993" y="6350"/>
                  </a:cubicBezTo>
                  <a:cubicBezTo>
                    <a:pt x="9468993" y="9906"/>
                    <a:pt x="9466200" y="12700"/>
                    <a:pt x="9462643" y="12700"/>
                  </a:cubicBezTo>
                  <a:lnTo>
                    <a:pt x="6350" y="12700"/>
                  </a:lnTo>
                  <a:cubicBezTo>
                    <a:pt x="2794" y="12700"/>
                    <a:pt x="0" y="9906"/>
                    <a:pt x="0" y="6350"/>
                  </a:cubicBezTo>
                  <a:cubicBezTo>
                    <a:pt x="0" y="2794"/>
                    <a:pt x="2794" y="0"/>
                    <a:pt x="6350" y="0"/>
                  </a:cubicBezTo>
                  <a:close/>
                </a:path>
              </a:pathLst>
            </a:custGeom>
            <a:solidFill>
              <a:srgbClr val="2B529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988160" y="4207556"/>
            <a:ext cx="7101704" cy="9525"/>
            <a:chOff x="0" y="0"/>
            <a:chExt cx="9468939" cy="127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468993" cy="12700"/>
            </a:xfrm>
            <a:custGeom>
              <a:avLst/>
              <a:gdLst/>
              <a:ahLst/>
              <a:cxnLst/>
              <a:rect r="r" b="b" t="t" l="l"/>
              <a:pathLst>
                <a:path h="12700" w="9468993">
                  <a:moveTo>
                    <a:pt x="6350" y="0"/>
                  </a:moveTo>
                  <a:lnTo>
                    <a:pt x="9462643" y="0"/>
                  </a:lnTo>
                  <a:cubicBezTo>
                    <a:pt x="9466200" y="0"/>
                    <a:pt x="9468993" y="2794"/>
                    <a:pt x="9468993" y="6350"/>
                  </a:cubicBezTo>
                  <a:cubicBezTo>
                    <a:pt x="9468993" y="9906"/>
                    <a:pt x="9466200" y="12700"/>
                    <a:pt x="9462643" y="12700"/>
                  </a:cubicBezTo>
                  <a:lnTo>
                    <a:pt x="6350" y="12700"/>
                  </a:lnTo>
                  <a:cubicBezTo>
                    <a:pt x="2794" y="12700"/>
                    <a:pt x="0" y="9906"/>
                    <a:pt x="0" y="6350"/>
                  </a:cubicBezTo>
                  <a:cubicBezTo>
                    <a:pt x="0" y="2794"/>
                    <a:pt x="2794" y="0"/>
                    <a:pt x="6350" y="0"/>
                  </a:cubicBezTo>
                  <a:close/>
                </a:path>
              </a:pathLst>
            </a:custGeom>
            <a:solidFill>
              <a:srgbClr val="2B529D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988160" y="5089252"/>
            <a:ext cx="7101704" cy="9525"/>
            <a:chOff x="0" y="0"/>
            <a:chExt cx="9468939" cy="127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468993" cy="12700"/>
            </a:xfrm>
            <a:custGeom>
              <a:avLst/>
              <a:gdLst/>
              <a:ahLst/>
              <a:cxnLst/>
              <a:rect r="r" b="b" t="t" l="l"/>
              <a:pathLst>
                <a:path h="12700" w="9468993">
                  <a:moveTo>
                    <a:pt x="6350" y="0"/>
                  </a:moveTo>
                  <a:lnTo>
                    <a:pt x="9462643" y="0"/>
                  </a:lnTo>
                  <a:cubicBezTo>
                    <a:pt x="9466200" y="0"/>
                    <a:pt x="9468993" y="2794"/>
                    <a:pt x="9468993" y="6350"/>
                  </a:cubicBezTo>
                  <a:cubicBezTo>
                    <a:pt x="9468993" y="9906"/>
                    <a:pt x="9466200" y="12700"/>
                    <a:pt x="9462643" y="12700"/>
                  </a:cubicBezTo>
                  <a:lnTo>
                    <a:pt x="6350" y="12700"/>
                  </a:lnTo>
                  <a:cubicBezTo>
                    <a:pt x="2794" y="12700"/>
                    <a:pt x="0" y="9906"/>
                    <a:pt x="0" y="6350"/>
                  </a:cubicBezTo>
                  <a:cubicBezTo>
                    <a:pt x="0" y="2794"/>
                    <a:pt x="2794" y="0"/>
                    <a:pt x="6350" y="0"/>
                  </a:cubicBezTo>
                  <a:close/>
                </a:path>
              </a:pathLst>
            </a:custGeom>
            <a:solidFill>
              <a:srgbClr val="2B529D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988160" y="5960187"/>
            <a:ext cx="7101704" cy="9525"/>
            <a:chOff x="0" y="0"/>
            <a:chExt cx="9468939" cy="127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468993" cy="12700"/>
            </a:xfrm>
            <a:custGeom>
              <a:avLst/>
              <a:gdLst/>
              <a:ahLst/>
              <a:cxnLst/>
              <a:rect r="r" b="b" t="t" l="l"/>
              <a:pathLst>
                <a:path h="12700" w="9468993">
                  <a:moveTo>
                    <a:pt x="6350" y="0"/>
                  </a:moveTo>
                  <a:lnTo>
                    <a:pt x="9462643" y="0"/>
                  </a:lnTo>
                  <a:cubicBezTo>
                    <a:pt x="9466200" y="0"/>
                    <a:pt x="9468993" y="2794"/>
                    <a:pt x="9468993" y="6350"/>
                  </a:cubicBezTo>
                  <a:cubicBezTo>
                    <a:pt x="9468993" y="9906"/>
                    <a:pt x="9466200" y="12700"/>
                    <a:pt x="9462643" y="12700"/>
                  </a:cubicBezTo>
                  <a:lnTo>
                    <a:pt x="6350" y="12700"/>
                  </a:lnTo>
                  <a:cubicBezTo>
                    <a:pt x="2794" y="12700"/>
                    <a:pt x="0" y="9906"/>
                    <a:pt x="0" y="6350"/>
                  </a:cubicBezTo>
                  <a:cubicBezTo>
                    <a:pt x="0" y="2794"/>
                    <a:pt x="2794" y="0"/>
                    <a:pt x="6350" y="0"/>
                  </a:cubicBezTo>
                  <a:close/>
                </a:path>
              </a:pathLst>
            </a:custGeom>
            <a:solidFill>
              <a:srgbClr val="2B529D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988160" y="6841882"/>
            <a:ext cx="7101704" cy="9525"/>
            <a:chOff x="0" y="0"/>
            <a:chExt cx="9468939" cy="127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468993" cy="12700"/>
            </a:xfrm>
            <a:custGeom>
              <a:avLst/>
              <a:gdLst/>
              <a:ahLst/>
              <a:cxnLst/>
              <a:rect r="r" b="b" t="t" l="l"/>
              <a:pathLst>
                <a:path h="12700" w="9468993">
                  <a:moveTo>
                    <a:pt x="6350" y="0"/>
                  </a:moveTo>
                  <a:lnTo>
                    <a:pt x="9462643" y="0"/>
                  </a:lnTo>
                  <a:cubicBezTo>
                    <a:pt x="9466200" y="0"/>
                    <a:pt x="9468993" y="2794"/>
                    <a:pt x="9468993" y="6350"/>
                  </a:cubicBezTo>
                  <a:cubicBezTo>
                    <a:pt x="9468993" y="9906"/>
                    <a:pt x="9466200" y="12700"/>
                    <a:pt x="9462643" y="12700"/>
                  </a:cubicBezTo>
                  <a:lnTo>
                    <a:pt x="6350" y="12700"/>
                  </a:lnTo>
                  <a:cubicBezTo>
                    <a:pt x="2794" y="12700"/>
                    <a:pt x="0" y="9906"/>
                    <a:pt x="0" y="6350"/>
                  </a:cubicBezTo>
                  <a:cubicBezTo>
                    <a:pt x="0" y="2794"/>
                    <a:pt x="2794" y="0"/>
                    <a:pt x="6350" y="0"/>
                  </a:cubicBezTo>
                  <a:close/>
                </a:path>
              </a:pathLst>
            </a:custGeom>
            <a:solidFill>
              <a:srgbClr val="2B529D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988160" y="7734338"/>
            <a:ext cx="7101704" cy="9525"/>
            <a:chOff x="0" y="0"/>
            <a:chExt cx="9468939" cy="127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468993" cy="12700"/>
            </a:xfrm>
            <a:custGeom>
              <a:avLst/>
              <a:gdLst/>
              <a:ahLst/>
              <a:cxnLst/>
              <a:rect r="r" b="b" t="t" l="l"/>
              <a:pathLst>
                <a:path h="12700" w="9468993">
                  <a:moveTo>
                    <a:pt x="6350" y="0"/>
                  </a:moveTo>
                  <a:lnTo>
                    <a:pt x="9462643" y="0"/>
                  </a:lnTo>
                  <a:cubicBezTo>
                    <a:pt x="9466200" y="0"/>
                    <a:pt x="9468993" y="2794"/>
                    <a:pt x="9468993" y="6350"/>
                  </a:cubicBezTo>
                  <a:cubicBezTo>
                    <a:pt x="9468993" y="9906"/>
                    <a:pt x="9466200" y="12700"/>
                    <a:pt x="9462643" y="12700"/>
                  </a:cubicBezTo>
                  <a:lnTo>
                    <a:pt x="6350" y="12700"/>
                  </a:lnTo>
                  <a:cubicBezTo>
                    <a:pt x="2794" y="12700"/>
                    <a:pt x="0" y="9906"/>
                    <a:pt x="0" y="6350"/>
                  </a:cubicBezTo>
                  <a:cubicBezTo>
                    <a:pt x="0" y="2794"/>
                    <a:pt x="2794" y="0"/>
                    <a:pt x="6350" y="0"/>
                  </a:cubicBezTo>
                  <a:close/>
                </a:path>
              </a:pathLst>
            </a:custGeom>
            <a:solidFill>
              <a:srgbClr val="2B529D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988160" y="8616034"/>
            <a:ext cx="7101704" cy="9525"/>
            <a:chOff x="0" y="0"/>
            <a:chExt cx="9468939" cy="127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468993" cy="12700"/>
            </a:xfrm>
            <a:custGeom>
              <a:avLst/>
              <a:gdLst/>
              <a:ahLst/>
              <a:cxnLst/>
              <a:rect r="r" b="b" t="t" l="l"/>
              <a:pathLst>
                <a:path h="12700" w="9468993">
                  <a:moveTo>
                    <a:pt x="6350" y="0"/>
                  </a:moveTo>
                  <a:lnTo>
                    <a:pt x="9462643" y="0"/>
                  </a:lnTo>
                  <a:cubicBezTo>
                    <a:pt x="9466200" y="0"/>
                    <a:pt x="9468993" y="2794"/>
                    <a:pt x="9468993" y="6350"/>
                  </a:cubicBezTo>
                  <a:cubicBezTo>
                    <a:pt x="9468993" y="9906"/>
                    <a:pt x="9466200" y="12700"/>
                    <a:pt x="9462643" y="12700"/>
                  </a:cubicBezTo>
                  <a:lnTo>
                    <a:pt x="6350" y="12700"/>
                  </a:lnTo>
                  <a:cubicBezTo>
                    <a:pt x="2794" y="12700"/>
                    <a:pt x="0" y="9906"/>
                    <a:pt x="0" y="6350"/>
                  </a:cubicBezTo>
                  <a:cubicBezTo>
                    <a:pt x="0" y="2794"/>
                    <a:pt x="2794" y="0"/>
                    <a:pt x="6350" y="0"/>
                  </a:cubicBezTo>
                  <a:close/>
                </a:path>
              </a:pathLst>
            </a:custGeom>
            <a:solidFill>
              <a:srgbClr val="2B529D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1413520" y="830765"/>
            <a:ext cx="5012986" cy="656679"/>
            <a:chOff x="0" y="0"/>
            <a:chExt cx="6683981" cy="87557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683981" cy="875572"/>
            </a:xfrm>
            <a:custGeom>
              <a:avLst/>
              <a:gdLst/>
              <a:ahLst/>
              <a:cxnLst/>
              <a:rect r="r" b="b" t="t" l="l"/>
              <a:pathLst>
                <a:path h="875572" w="6683981">
                  <a:moveTo>
                    <a:pt x="0" y="0"/>
                  </a:moveTo>
                  <a:lnTo>
                    <a:pt x="6683981" y="0"/>
                  </a:lnTo>
                  <a:lnTo>
                    <a:pt x="6683981" y="875572"/>
                  </a:lnTo>
                  <a:lnTo>
                    <a:pt x="0" y="8755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6683981" cy="93272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2646"/>
                </a:lnSpc>
              </a:pPr>
              <a:r>
                <a:rPr lang="en-US" sz="1764">
                  <a:solidFill>
                    <a:srgbClr val="545454"/>
                  </a:solidFill>
                  <a:latin typeface="Lato"/>
                  <a:ea typeface="Lato"/>
                  <a:cs typeface="Lato"/>
                  <a:sym typeface="Lato"/>
                </a:rPr>
                <a:t>Introduction to Python and Research Workflow (1 Hour)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413520" y="1871580"/>
            <a:ext cx="5012986" cy="323304"/>
            <a:chOff x="0" y="0"/>
            <a:chExt cx="6683981" cy="43107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683981" cy="431072"/>
            </a:xfrm>
            <a:custGeom>
              <a:avLst/>
              <a:gdLst/>
              <a:ahLst/>
              <a:cxnLst/>
              <a:rect r="r" b="b" t="t" l="l"/>
              <a:pathLst>
                <a:path h="431072" w="6683981">
                  <a:moveTo>
                    <a:pt x="0" y="0"/>
                  </a:moveTo>
                  <a:lnTo>
                    <a:pt x="6683981" y="0"/>
                  </a:lnTo>
                  <a:lnTo>
                    <a:pt x="6683981" y="431072"/>
                  </a:lnTo>
                  <a:lnTo>
                    <a:pt x="0" y="4310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6683981" cy="48822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2646"/>
                </a:lnSpc>
              </a:pPr>
              <a:r>
                <a:rPr lang="en-US" sz="1764">
                  <a:solidFill>
                    <a:srgbClr val="545454"/>
                  </a:solidFill>
                  <a:latin typeface="Lato"/>
                  <a:ea typeface="Lato"/>
                  <a:cs typeface="Lato"/>
                  <a:sym typeface="Lato"/>
                </a:rPr>
                <a:t>Python Basics (3 Hours)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413520" y="2745709"/>
            <a:ext cx="5012986" cy="323304"/>
            <a:chOff x="0" y="0"/>
            <a:chExt cx="6683981" cy="43107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683981" cy="431072"/>
            </a:xfrm>
            <a:custGeom>
              <a:avLst/>
              <a:gdLst/>
              <a:ahLst/>
              <a:cxnLst/>
              <a:rect r="r" b="b" t="t" l="l"/>
              <a:pathLst>
                <a:path h="431072" w="6683981">
                  <a:moveTo>
                    <a:pt x="0" y="0"/>
                  </a:moveTo>
                  <a:lnTo>
                    <a:pt x="6683981" y="0"/>
                  </a:lnTo>
                  <a:lnTo>
                    <a:pt x="6683981" y="431072"/>
                  </a:lnTo>
                  <a:lnTo>
                    <a:pt x="0" y="4310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6683981" cy="48822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2646"/>
                </a:lnSpc>
              </a:pPr>
              <a:r>
                <a:rPr lang="en-US" sz="1764">
                  <a:solidFill>
                    <a:srgbClr val="545454"/>
                  </a:solidFill>
                  <a:latin typeface="Lato"/>
                  <a:ea typeface="Lato"/>
                  <a:cs typeface="Lato"/>
                  <a:sym typeface="Lato"/>
                </a:rPr>
                <a:t>Data Structures in Python (2 Hours)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413520" y="3619837"/>
            <a:ext cx="5012986" cy="323304"/>
            <a:chOff x="0" y="0"/>
            <a:chExt cx="6683981" cy="43107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683981" cy="431072"/>
            </a:xfrm>
            <a:custGeom>
              <a:avLst/>
              <a:gdLst/>
              <a:ahLst/>
              <a:cxnLst/>
              <a:rect r="r" b="b" t="t" l="l"/>
              <a:pathLst>
                <a:path h="431072" w="6683981">
                  <a:moveTo>
                    <a:pt x="0" y="0"/>
                  </a:moveTo>
                  <a:lnTo>
                    <a:pt x="6683981" y="0"/>
                  </a:lnTo>
                  <a:lnTo>
                    <a:pt x="6683981" y="431072"/>
                  </a:lnTo>
                  <a:lnTo>
                    <a:pt x="0" y="4310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6683981" cy="48822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2646"/>
                </a:lnSpc>
              </a:pPr>
              <a:r>
                <a:rPr lang="en-US" sz="1764">
                  <a:solidFill>
                    <a:srgbClr val="545454"/>
                  </a:solidFill>
                  <a:latin typeface="Lato"/>
                  <a:ea typeface="Lato"/>
                  <a:cs typeface="Lato"/>
                  <a:sym typeface="Lato"/>
                </a:rPr>
                <a:t>Working with Data in Pandas (3 Hours)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413520" y="4327278"/>
            <a:ext cx="5012986" cy="656679"/>
            <a:chOff x="0" y="0"/>
            <a:chExt cx="6683981" cy="87557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683981" cy="875572"/>
            </a:xfrm>
            <a:custGeom>
              <a:avLst/>
              <a:gdLst/>
              <a:ahLst/>
              <a:cxnLst/>
              <a:rect r="r" b="b" t="t" l="l"/>
              <a:pathLst>
                <a:path h="875572" w="6683981">
                  <a:moveTo>
                    <a:pt x="0" y="0"/>
                  </a:moveTo>
                  <a:lnTo>
                    <a:pt x="6683981" y="0"/>
                  </a:lnTo>
                  <a:lnTo>
                    <a:pt x="6683981" y="875572"/>
                  </a:lnTo>
                  <a:lnTo>
                    <a:pt x="0" y="8755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6683981" cy="93272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2646"/>
                </a:lnSpc>
              </a:pPr>
              <a:r>
                <a:rPr lang="en-US" sz="1764">
                  <a:solidFill>
                    <a:srgbClr val="545454"/>
                  </a:solidFill>
                  <a:latin typeface="Lato"/>
                  <a:ea typeface="Lato"/>
                  <a:cs typeface="Lato"/>
                  <a:sym typeface="Lato"/>
                </a:rPr>
                <a:t>Data Visualization with Matplotlib and Seaborn (3 Hours)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413520" y="5368094"/>
            <a:ext cx="5012986" cy="323304"/>
            <a:chOff x="0" y="0"/>
            <a:chExt cx="6683981" cy="43107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683981" cy="431072"/>
            </a:xfrm>
            <a:custGeom>
              <a:avLst/>
              <a:gdLst/>
              <a:ahLst/>
              <a:cxnLst/>
              <a:rect r="r" b="b" t="t" l="l"/>
              <a:pathLst>
                <a:path h="431072" w="6683981">
                  <a:moveTo>
                    <a:pt x="0" y="0"/>
                  </a:moveTo>
                  <a:lnTo>
                    <a:pt x="6683981" y="0"/>
                  </a:lnTo>
                  <a:lnTo>
                    <a:pt x="6683981" y="431072"/>
                  </a:lnTo>
                  <a:lnTo>
                    <a:pt x="0" y="4310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6683981" cy="48822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2646"/>
                </a:lnSpc>
              </a:pPr>
              <a:r>
                <a:rPr lang="en-US" sz="1764">
                  <a:solidFill>
                    <a:srgbClr val="545454"/>
                  </a:solidFill>
                  <a:latin typeface="Lato"/>
                  <a:ea typeface="Lato"/>
                  <a:cs typeface="Lato"/>
                  <a:sym typeface="Lato"/>
                </a:rPr>
                <a:t>Automating Tasks with Python (2 Hours)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977048" y="984229"/>
            <a:ext cx="818665" cy="387850"/>
            <a:chOff x="0" y="0"/>
            <a:chExt cx="1091553" cy="51713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91553" cy="517133"/>
            </a:xfrm>
            <a:custGeom>
              <a:avLst/>
              <a:gdLst/>
              <a:ahLst/>
              <a:cxnLst/>
              <a:rect r="r" b="b" t="t" l="l"/>
              <a:pathLst>
                <a:path h="517133" w="1091553">
                  <a:moveTo>
                    <a:pt x="0" y="0"/>
                  </a:moveTo>
                  <a:lnTo>
                    <a:pt x="1091553" y="0"/>
                  </a:lnTo>
                  <a:lnTo>
                    <a:pt x="1091553" y="517133"/>
                  </a:lnTo>
                  <a:lnTo>
                    <a:pt x="0" y="5171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1091553" cy="53618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3197"/>
                </a:lnSpc>
              </a:pPr>
              <a:r>
                <a:rPr lang="en-US" sz="2460" b="true">
                  <a:solidFill>
                    <a:srgbClr val="545454"/>
                  </a:solidFill>
                  <a:latin typeface="Lato Bold"/>
                  <a:ea typeface="Lato Bold"/>
                  <a:cs typeface="Lato Bold"/>
                  <a:sym typeface="Lato Bold"/>
                </a:rPr>
                <a:t>01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977048" y="1858357"/>
            <a:ext cx="818665" cy="387850"/>
            <a:chOff x="0" y="0"/>
            <a:chExt cx="1091553" cy="517133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91553" cy="517133"/>
            </a:xfrm>
            <a:custGeom>
              <a:avLst/>
              <a:gdLst/>
              <a:ahLst/>
              <a:cxnLst/>
              <a:rect r="r" b="b" t="t" l="l"/>
              <a:pathLst>
                <a:path h="517133" w="1091553">
                  <a:moveTo>
                    <a:pt x="0" y="0"/>
                  </a:moveTo>
                  <a:lnTo>
                    <a:pt x="1091553" y="0"/>
                  </a:lnTo>
                  <a:lnTo>
                    <a:pt x="1091553" y="517133"/>
                  </a:lnTo>
                  <a:lnTo>
                    <a:pt x="0" y="5171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1091553" cy="53618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3197"/>
                </a:lnSpc>
              </a:pPr>
              <a:r>
                <a:rPr lang="en-US" sz="2460" b="true">
                  <a:solidFill>
                    <a:srgbClr val="545454"/>
                  </a:solidFill>
                  <a:latin typeface="Lato Bold"/>
                  <a:ea typeface="Lato Bold"/>
                  <a:cs typeface="Lato Bold"/>
                  <a:sym typeface="Lato Bold"/>
                </a:rPr>
                <a:t>02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977048" y="2732486"/>
            <a:ext cx="818665" cy="387850"/>
            <a:chOff x="0" y="0"/>
            <a:chExt cx="1091553" cy="517133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91553" cy="517133"/>
            </a:xfrm>
            <a:custGeom>
              <a:avLst/>
              <a:gdLst/>
              <a:ahLst/>
              <a:cxnLst/>
              <a:rect r="r" b="b" t="t" l="l"/>
              <a:pathLst>
                <a:path h="517133" w="1091553">
                  <a:moveTo>
                    <a:pt x="0" y="0"/>
                  </a:moveTo>
                  <a:lnTo>
                    <a:pt x="1091553" y="0"/>
                  </a:lnTo>
                  <a:lnTo>
                    <a:pt x="1091553" y="517133"/>
                  </a:lnTo>
                  <a:lnTo>
                    <a:pt x="0" y="5171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1091553" cy="53618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3197"/>
                </a:lnSpc>
              </a:pPr>
              <a:r>
                <a:rPr lang="en-US" sz="2460" b="true">
                  <a:solidFill>
                    <a:srgbClr val="545454"/>
                  </a:solidFill>
                  <a:latin typeface="Lato Bold"/>
                  <a:ea typeface="Lato Bold"/>
                  <a:cs typeface="Lato Bold"/>
                  <a:sym typeface="Lato Bold"/>
                </a:rPr>
                <a:t>03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977048" y="3606614"/>
            <a:ext cx="818665" cy="387850"/>
            <a:chOff x="0" y="0"/>
            <a:chExt cx="1091553" cy="517133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91553" cy="517133"/>
            </a:xfrm>
            <a:custGeom>
              <a:avLst/>
              <a:gdLst/>
              <a:ahLst/>
              <a:cxnLst/>
              <a:rect r="r" b="b" t="t" l="l"/>
              <a:pathLst>
                <a:path h="517133" w="1091553">
                  <a:moveTo>
                    <a:pt x="0" y="0"/>
                  </a:moveTo>
                  <a:lnTo>
                    <a:pt x="1091553" y="0"/>
                  </a:lnTo>
                  <a:lnTo>
                    <a:pt x="1091553" y="517133"/>
                  </a:lnTo>
                  <a:lnTo>
                    <a:pt x="0" y="5171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1091553" cy="53618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3197"/>
                </a:lnSpc>
              </a:pPr>
              <a:r>
                <a:rPr lang="en-US" sz="2460" b="true">
                  <a:solidFill>
                    <a:srgbClr val="545454"/>
                  </a:solidFill>
                  <a:latin typeface="Lato Bold"/>
                  <a:ea typeface="Lato Bold"/>
                  <a:cs typeface="Lato Bold"/>
                  <a:sym typeface="Lato Bold"/>
                </a:rPr>
                <a:t>04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977048" y="4480742"/>
            <a:ext cx="818665" cy="387850"/>
            <a:chOff x="0" y="0"/>
            <a:chExt cx="1091553" cy="517133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91553" cy="517133"/>
            </a:xfrm>
            <a:custGeom>
              <a:avLst/>
              <a:gdLst/>
              <a:ahLst/>
              <a:cxnLst/>
              <a:rect r="r" b="b" t="t" l="l"/>
              <a:pathLst>
                <a:path h="517133" w="1091553">
                  <a:moveTo>
                    <a:pt x="0" y="0"/>
                  </a:moveTo>
                  <a:lnTo>
                    <a:pt x="1091553" y="0"/>
                  </a:lnTo>
                  <a:lnTo>
                    <a:pt x="1091553" y="517133"/>
                  </a:lnTo>
                  <a:lnTo>
                    <a:pt x="0" y="5171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1091553" cy="53618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3197"/>
                </a:lnSpc>
              </a:pPr>
              <a:r>
                <a:rPr lang="en-US" sz="2460" b="true">
                  <a:solidFill>
                    <a:srgbClr val="545454"/>
                  </a:solidFill>
                  <a:latin typeface="Lato Bold"/>
                  <a:ea typeface="Lato Bold"/>
                  <a:cs typeface="Lato Bold"/>
                  <a:sym typeface="Lato Bold"/>
                </a:rPr>
                <a:t>05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977048" y="5354871"/>
            <a:ext cx="818665" cy="387850"/>
            <a:chOff x="0" y="0"/>
            <a:chExt cx="1091553" cy="517133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91553" cy="517133"/>
            </a:xfrm>
            <a:custGeom>
              <a:avLst/>
              <a:gdLst/>
              <a:ahLst/>
              <a:cxnLst/>
              <a:rect r="r" b="b" t="t" l="l"/>
              <a:pathLst>
                <a:path h="517133" w="1091553">
                  <a:moveTo>
                    <a:pt x="0" y="0"/>
                  </a:moveTo>
                  <a:lnTo>
                    <a:pt x="1091553" y="0"/>
                  </a:lnTo>
                  <a:lnTo>
                    <a:pt x="1091553" y="517133"/>
                  </a:lnTo>
                  <a:lnTo>
                    <a:pt x="0" y="5171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1091553" cy="53618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3197"/>
                </a:lnSpc>
              </a:pPr>
              <a:r>
                <a:rPr lang="en-US" sz="2460" b="true">
                  <a:solidFill>
                    <a:srgbClr val="545454"/>
                  </a:solidFill>
                  <a:latin typeface="Lato Bold"/>
                  <a:ea typeface="Lato Bold"/>
                  <a:cs typeface="Lato Bold"/>
                  <a:sym typeface="Lato Bold"/>
                </a:rPr>
                <a:t>06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977048" y="6228999"/>
            <a:ext cx="818665" cy="387850"/>
            <a:chOff x="0" y="0"/>
            <a:chExt cx="1091553" cy="517133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91553" cy="517133"/>
            </a:xfrm>
            <a:custGeom>
              <a:avLst/>
              <a:gdLst/>
              <a:ahLst/>
              <a:cxnLst/>
              <a:rect r="r" b="b" t="t" l="l"/>
              <a:pathLst>
                <a:path h="517133" w="1091553">
                  <a:moveTo>
                    <a:pt x="0" y="0"/>
                  </a:moveTo>
                  <a:lnTo>
                    <a:pt x="1091553" y="0"/>
                  </a:lnTo>
                  <a:lnTo>
                    <a:pt x="1091553" y="517133"/>
                  </a:lnTo>
                  <a:lnTo>
                    <a:pt x="0" y="5171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19050"/>
              <a:ext cx="1091553" cy="53618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3197"/>
                </a:lnSpc>
              </a:pPr>
              <a:r>
                <a:rPr lang="en-US" sz="2460" b="true">
                  <a:solidFill>
                    <a:srgbClr val="545454"/>
                  </a:solidFill>
                  <a:latin typeface="Lato Bold"/>
                  <a:ea typeface="Lato Bold"/>
                  <a:cs typeface="Lato Bold"/>
                  <a:sym typeface="Lato Bold"/>
                </a:rPr>
                <a:t>07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977048" y="7103127"/>
            <a:ext cx="818665" cy="387850"/>
            <a:chOff x="0" y="0"/>
            <a:chExt cx="1091553" cy="517133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91553" cy="517133"/>
            </a:xfrm>
            <a:custGeom>
              <a:avLst/>
              <a:gdLst/>
              <a:ahLst/>
              <a:cxnLst/>
              <a:rect r="r" b="b" t="t" l="l"/>
              <a:pathLst>
                <a:path h="517133" w="1091553">
                  <a:moveTo>
                    <a:pt x="0" y="0"/>
                  </a:moveTo>
                  <a:lnTo>
                    <a:pt x="1091553" y="0"/>
                  </a:lnTo>
                  <a:lnTo>
                    <a:pt x="1091553" y="517133"/>
                  </a:lnTo>
                  <a:lnTo>
                    <a:pt x="0" y="5171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19050"/>
              <a:ext cx="1091553" cy="53618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3197"/>
                </a:lnSpc>
              </a:pPr>
              <a:r>
                <a:rPr lang="en-US" sz="2460" b="true">
                  <a:solidFill>
                    <a:srgbClr val="545454"/>
                  </a:solidFill>
                  <a:latin typeface="Lato Bold"/>
                  <a:ea typeface="Lato Bold"/>
                  <a:cs typeface="Lato Bold"/>
                  <a:sym typeface="Lato Bold"/>
                </a:rPr>
                <a:t>08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977048" y="7988016"/>
            <a:ext cx="818665" cy="387850"/>
            <a:chOff x="0" y="0"/>
            <a:chExt cx="1091553" cy="517133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91553" cy="517133"/>
            </a:xfrm>
            <a:custGeom>
              <a:avLst/>
              <a:gdLst/>
              <a:ahLst/>
              <a:cxnLst/>
              <a:rect r="r" b="b" t="t" l="l"/>
              <a:pathLst>
                <a:path h="517133" w="1091553">
                  <a:moveTo>
                    <a:pt x="0" y="0"/>
                  </a:moveTo>
                  <a:lnTo>
                    <a:pt x="1091553" y="0"/>
                  </a:lnTo>
                  <a:lnTo>
                    <a:pt x="1091553" y="517133"/>
                  </a:lnTo>
                  <a:lnTo>
                    <a:pt x="0" y="5171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19050"/>
              <a:ext cx="1091553" cy="53618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3197"/>
                </a:lnSpc>
              </a:pPr>
              <a:r>
                <a:rPr lang="en-US" sz="2460" b="true">
                  <a:solidFill>
                    <a:srgbClr val="545454"/>
                  </a:solidFill>
                  <a:latin typeface="Lato Bold"/>
                  <a:ea typeface="Lato Bold"/>
                  <a:cs typeface="Lato Bold"/>
                  <a:sym typeface="Lato Bold"/>
                </a:rPr>
                <a:t>09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977048" y="8862356"/>
            <a:ext cx="818665" cy="387850"/>
            <a:chOff x="0" y="0"/>
            <a:chExt cx="1091553" cy="517133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91553" cy="517133"/>
            </a:xfrm>
            <a:custGeom>
              <a:avLst/>
              <a:gdLst/>
              <a:ahLst/>
              <a:cxnLst/>
              <a:rect r="r" b="b" t="t" l="l"/>
              <a:pathLst>
                <a:path h="517133" w="1091553">
                  <a:moveTo>
                    <a:pt x="0" y="0"/>
                  </a:moveTo>
                  <a:lnTo>
                    <a:pt x="1091553" y="0"/>
                  </a:lnTo>
                  <a:lnTo>
                    <a:pt x="1091553" y="517133"/>
                  </a:lnTo>
                  <a:lnTo>
                    <a:pt x="0" y="5171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19050"/>
              <a:ext cx="1091553" cy="53618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3197"/>
                </a:lnSpc>
              </a:pPr>
              <a:r>
                <a:rPr lang="en-US" sz="2460" b="true">
                  <a:solidFill>
                    <a:srgbClr val="545454"/>
                  </a:solidFill>
                  <a:latin typeface="Lato Bold"/>
                  <a:ea typeface="Lato Bold"/>
                  <a:cs typeface="Lato Bold"/>
                  <a:sym typeface="Lato Bold"/>
                </a:rPr>
                <a:t>10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1413520" y="6242222"/>
            <a:ext cx="5012986" cy="323304"/>
            <a:chOff x="0" y="0"/>
            <a:chExt cx="6683981" cy="43107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6683981" cy="431072"/>
            </a:xfrm>
            <a:custGeom>
              <a:avLst/>
              <a:gdLst/>
              <a:ahLst/>
              <a:cxnLst/>
              <a:rect r="r" b="b" t="t" l="l"/>
              <a:pathLst>
                <a:path h="431072" w="6683981">
                  <a:moveTo>
                    <a:pt x="0" y="0"/>
                  </a:moveTo>
                  <a:lnTo>
                    <a:pt x="6683981" y="0"/>
                  </a:lnTo>
                  <a:lnTo>
                    <a:pt x="6683981" y="431072"/>
                  </a:lnTo>
                  <a:lnTo>
                    <a:pt x="0" y="4310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57150"/>
              <a:ext cx="6683981" cy="48822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2646"/>
                </a:lnSpc>
              </a:pPr>
              <a:r>
                <a:rPr lang="en-US" sz="1764">
                  <a:solidFill>
                    <a:srgbClr val="545454"/>
                  </a:solidFill>
                  <a:latin typeface="Lato"/>
                  <a:ea typeface="Lato"/>
                  <a:cs typeface="Lato"/>
                  <a:sym typeface="Lato"/>
                </a:rPr>
                <a:t>Statistical Analysis with Python (3 Hours)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1413520" y="6949663"/>
            <a:ext cx="5012986" cy="656679"/>
            <a:chOff x="0" y="0"/>
            <a:chExt cx="6683981" cy="87557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6683981" cy="875572"/>
            </a:xfrm>
            <a:custGeom>
              <a:avLst/>
              <a:gdLst/>
              <a:ahLst/>
              <a:cxnLst/>
              <a:rect r="r" b="b" t="t" l="l"/>
              <a:pathLst>
                <a:path h="875572" w="6683981">
                  <a:moveTo>
                    <a:pt x="0" y="0"/>
                  </a:moveTo>
                  <a:lnTo>
                    <a:pt x="6683981" y="0"/>
                  </a:lnTo>
                  <a:lnTo>
                    <a:pt x="6683981" y="875572"/>
                  </a:lnTo>
                  <a:lnTo>
                    <a:pt x="0" y="8755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57150"/>
              <a:ext cx="6683981" cy="93272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2646"/>
                </a:lnSpc>
              </a:pPr>
              <a:r>
                <a:rPr lang="en-US" sz="1764">
                  <a:solidFill>
                    <a:srgbClr val="545454"/>
                  </a:solidFill>
                  <a:latin typeface="Lato"/>
                  <a:ea typeface="Lato"/>
                  <a:cs typeface="Lato"/>
                  <a:sym typeface="Lato"/>
                </a:rPr>
                <a:t>Introduction to Machine Learning with Scikit-Learn (2 Hours)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1413520" y="7834552"/>
            <a:ext cx="5012986" cy="656679"/>
            <a:chOff x="0" y="0"/>
            <a:chExt cx="6683981" cy="87557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6683981" cy="875572"/>
            </a:xfrm>
            <a:custGeom>
              <a:avLst/>
              <a:gdLst/>
              <a:ahLst/>
              <a:cxnLst/>
              <a:rect r="r" b="b" t="t" l="l"/>
              <a:pathLst>
                <a:path h="875572" w="6683981">
                  <a:moveTo>
                    <a:pt x="0" y="0"/>
                  </a:moveTo>
                  <a:lnTo>
                    <a:pt x="6683981" y="0"/>
                  </a:lnTo>
                  <a:lnTo>
                    <a:pt x="6683981" y="875572"/>
                  </a:lnTo>
                  <a:lnTo>
                    <a:pt x="0" y="8755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57150"/>
              <a:ext cx="6683981" cy="93272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2646"/>
                </a:lnSpc>
              </a:pPr>
              <a:r>
                <a:rPr lang="en-US" sz="1764">
                  <a:solidFill>
                    <a:srgbClr val="545454"/>
                  </a:solidFill>
                  <a:latin typeface="Lato"/>
                  <a:ea typeface="Lato"/>
                  <a:cs typeface="Lato"/>
                  <a:sym typeface="Lato"/>
                </a:rPr>
                <a:t>Reproducible Research with Jupyter Notebooks (1 Hour)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1413520" y="8875579"/>
            <a:ext cx="5012986" cy="323304"/>
            <a:chOff x="0" y="0"/>
            <a:chExt cx="6683981" cy="43107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683981" cy="431072"/>
            </a:xfrm>
            <a:custGeom>
              <a:avLst/>
              <a:gdLst/>
              <a:ahLst/>
              <a:cxnLst/>
              <a:rect r="r" b="b" t="t" l="l"/>
              <a:pathLst>
                <a:path h="431072" w="6683981">
                  <a:moveTo>
                    <a:pt x="0" y="0"/>
                  </a:moveTo>
                  <a:lnTo>
                    <a:pt x="6683981" y="0"/>
                  </a:lnTo>
                  <a:lnTo>
                    <a:pt x="6683981" y="431072"/>
                  </a:lnTo>
                  <a:lnTo>
                    <a:pt x="0" y="4310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57150"/>
              <a:ext cx="6683981" cy="48822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2646"/>
                </a:lnSpc>
              </a:pPr>
              <a:r>
                <a:rPr lang="en-US" sz="1764">
                  <a:solidFill>
                    <a:srgbClr val="545454"/>
                  </a:solidFill>
                  <a:latin typeface="Lato"/>
                  <a:ea typeface="Lato"/>
                  <a:cs typeface="Lato"/>
                  <a:sym typeface="Lato"/>
                </a:rPr>
                <a:t>Closing and Feedback (1 Hour)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028700" y="3870672"/>
            <a:ext cx="7578725" cy="971550"/>
            <a:chOff x="0" y="0"/>
            <a:chExt cx="10104967" cy="12954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0104967" cy="1295400"/>
            </a:xfrm>
            <a:custGeom>
              <a:avLst/>
              <a:gdLst/>
              <a:ahLst/>
              <a:cxnLst/>
              <a:rect r="r" b="b" t="t" l="l"/>
              <a:pathLst>
                <a:path h="1295400" w="10104967">
                  <a:moveTo>
                    <a:pt x="0" y="0"/>
                  </a:moveTo>
                  <a:lnTo>
                    <a:pt x="10104967" y="0"/>
                  </a:lnTo>
                  <a:lnTo>
                    <a:pt x="10104967" y="1295400"/>
                  </a:lnTo>
                  <a:lnTo>
                    <a:pt x="0" y="12954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2" id="82"/>
            <p:cNvSpPr txBox="true"/>
            <p:nvPr/>
          </p:nvSpPr>
          <p:spPr>
            <a:xfrm>
              <a:off x="0" y="0"/>
              <a:ext cx="10104967" cy="129540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7678"/>
                </a:lnSpc>
              </a:pPr>
              <a:r>
                <a:rPr lang="en-US" sz="6398" b="true">
                  <a:solidFill>
                    <a:srgbClr val="545454"/>
                  </a:solidFill>
                  <a:latin typeface="Lato Bold"/>
                  <a:ea typeface="Lato Bold"/>
                  <a:cs typeface="Lato Bold"/>
                  <a:sym typeface="Lato Bold"/>
                </a:rPr>
                <a:t>Session Breakdown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487132" y="2623628"/>
            <a:ext cx="13313735" cy="5325494"/>
          </a:xfrm>
          <a:custGeom>
            <a:avLst/>
            <a:gdLst/>
            <a:ahLst/>
            <a:cxnLst/>
            <a:rect r="r" b="b" t="t" l="l"/>
            <a:pathLst>
              <a:path h="5325494" w="13313735">
                <a:moveTo>
                  <a:pt x="0" y="0"/>
                </a:moveTo>
                <a:lnTo>
                  <a:pt x="13313735" y="0"/>
                </a:lnTo>
                <a:lnTo>
                  <a:pt x="13313735" y="5325494"/>
                </a:lnTo>
                <a:lnTo>
                  <a:pt x="0" y="53254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71" r="0" b="-7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992901" y="3246114"/>
            <a:ext cx="14302199" cy="4718609"/>
            <a:chOff x="0" y="0"/>
            <a:chExt cx="19069599" cy="629147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069599" cy="6291478"/>
            </a:xfrm>
            <a:custGeom>
              <a:avLst/>
              <a:gdLst/>
              <a:ahLst/>
              <a:cxnLst/>
              <a:rect r="r" b="b" t="t" l="l"/>
              <a:pathLst>
                <a:path h="6291478" w="19069599">
                  <a:moveTo>
                    <a:pt x="0" y="0"/>
                  </a:moveTo>
                  <a:lnTo>
                    <a:pt x="19069599" y="0"/>
                  </a:lnTo>
                  <a:lnTo>
                    <a:pt x="19069599" y="6291478"/>
                  </a:lnTo>
                  <a:lnTo>
                    <a:pt x="0" y="62914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90500"/>
              <a:ext cx="19069599" cy="610097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10275"/>
                </a:lnSpc>
              </a:pPr>
              <a:r>
                <a:rPr lang="en-US" sz="10275" b="true">
                  <a:solidFill>
                    <a:srgbClr val="000000"/>
                  </a:solidFill>
                  <a:latin typeface="Lato Bold"/>
                  <a:ea typeface="Lato Bold"/>
                  <a:cs typeface="Lato Bold"/>
                  <a:sym typeface="Lato Bold"/>
                </a:rPr>
                <a:t>Introduction to Python and the Research Workflow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66871" y="554717"/>
            <a:ext cx="1458577" cy="1152525"/>
            <a:chOff x="0" y="0"/>
            <a:chExt cx="1944769" cy="1536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44769" cy="1536700"/>
            </a:xfrm>
            <a:custGeom>
              <a:avLst/>
              <a:gdLst/>
              <a:ahLst/>
              <a:cxnLst/>
              <a:rect r="r" b="b" t="t" l="l"/>
              <a:pathLst>
                <a:path h="1536700" w="1944769">
                  <a:moveTo>
                    <a:pt x="0" y="0"/>
                  </a:moveTo>
                  <a:lnTo>
                    <a:pt x="1944769" y="0"/>
                  </a:lnTo>
                  <a:lnTo>
                    <a:pt x="1944769" y="1536700"/>
                  </a:lnTo>
                  <a:lnTo>
                    <a:pt x="0" y="15367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944769" cy="154622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9000"/>
                </a:lnSpc>
              </a:pPr>
              <a:r>
                <a:rPr lang="en-US" sz="750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01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66871" y="2070644"/>
            <a:ext cx="1458577" cy="1152525"/>
            <a:chOff x="0" y="0"/>
            <a:chExt cx="1944769" cy="15367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44769" cy="1536700"/>
            </a:xfrm>
            <a:custGeom>
              <a:avLst/>
              <a:gdLst/>
              <a:ahLst/>
              <a:cxnLst/>
              <a:rect r="r" b="b" t="t" l="l"/>
              <a:pathLst>
                <a:path h="1536700" w="1944769">
                  <a:moveTo>
                    <a:pt x="0" y="0"/>
                  </a:moveTo>
                  <a:lnTo>
                    <a:pt x="1944769" y="0"/>
                  </a:lnTo>
                  <a:lnTo>
                    <a:pt x="1944769" y="1536700"/>
                  </a:lnTo>
                  <a:lnTo>
                    <a:pt x="0" y="15367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944769" cy="154622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9000"/>
                </a:lnSpc>
              </a:pPr>
              <a:r>
                <a:rPr lang="en-US" sz="750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02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66871" y="3586570"/>
            <a:ext cx="1458577" cy="1152525"/>
            <a:chOff x="0" y="0"/>
            <a:chExt cx="1944769" cy="15367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44769" cy="1536700"/>
            </a:xfrm>
            <a:custGeom>
              <a:avLst/>
              <a:gdLst/>
              <a:ahLst/>
              <a:cxnLst/>
              <a:rect r="r" b="b" t="t" l="l"/>
              <a:pathLst>
                <a:path h="1536700" w="1944769">
                  <a:moveTo>
                    <a:pt x="0" y="0"/>
                  </a:moveTo>
                  <a:lnTo>
                    <a:pt x="1944769" y="0"/>
                  </a:lnTo>
                  <a:lnTo>
                    <a:pt x="1944769" y="1536700"/>
                  </a:lnTo>
                  <a:lnTo>
                    <a:pt x="0" y="15367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944769" cy="154622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9000"/>
                </a:lnSpc>
              </a:pPr>
              <a:r>
                <a:rPr lang="en-US" sz="750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03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866871" y="5102497"/>
            <a:ext cx="1458577" cy="1152525"/>
            <a:chOff x="0" y="0"/>
            <a:chExt cx="1944769" cy="15367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44769" cy="1536700"/>
            </a:xfrm>
            <a:custGeom>
              <a:avLst/>
              <a:gdLst/>
              <a:ahLst/>
              <a:cxnLst/>
              <a:rect r="r" b="b" t="t" l="l"/>
              <a:pathLst>
                <a:path h="1536700" w="1944769">
                  <a:moveTo>
                    <a:pt x="0" y="0"/>
                  </a:moveTo>
                  <a:lnTo>
                    <a:pt x="1944769" y="0"/>
                  </a:lnTo>
                  <a:lnTo>
                    <a:pt x="1944769" y="1536700"/>
                  </a:lnTo>
                  <a:lnTo>
                    <a:pt x="0" y="15367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1944769" cy="154622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9000"/>
                </a:lnSpc>
              </a:pPr>
              <a:r>
                <a:rPr lang="en-US" sz="750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04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66871" y="6618423"/>
            <a:ext cx="1458577" cy="1152525"/>
            <a:chOff x="0" y="0"/>
            <a:chExt cx="1944769" cy="15367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44769" cy="1536700"/>
            </a:xfrm>
            <a:custGeom>
              <a:avLst/>
              <a:gdLst/>
              <a:ahLst/>
              <a:cxnLst/>
              <a:rect r="r" b="b" t="t" l="l"/>
              <a:pathLst>
                <a:path h="1536700" w="1944769">
                  <a:moveTo>
                    <a:pt x="0" y="0"/>
                  </a:moveTo>
                  <a:lnTo>
                    <a:pt x="1944769" y="0"/>
                  </a:lnTo>
                  <a:lnTo>
                    <a:pt x="1944769" y="1536700"/>
                  </a:lnTo>
                  <a:lnTo>
                    <a:pt x="0" y="15367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1944769" cy="154622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9000"/>
                </a:lnSpc>
              </a:pPr>
              <a:r>
                <a:rPr lang="en-US" sz="750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05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866871" y="8134350"/>
            <a:ext cx="1458577" cy="1152525"/>
            <a:chOff x="0" y="0"/>
            <a:chExt cx="1944769" cy="15367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44769" cy="1536700"/>
            </a:xfrm>
            <a:custGeom>
              <a:avLst/>
              <a:gdLst/>
              <a:ahLst/>
              <a:cxnLst/>
              <a:rect r="r" b="b" t="t" l="l"/>
              <a:pathLst>
                <a:path h="1536700" w="1944769">
                  <a:moveTo>
                    <a:pt x="0" y="0"/>
                  </a:moveTo>
                  <a:lnTo>
                    <a:pt x="1944769" y="0"/>
                  </a:lnTo>
                  <a:lnTo>
                    <a:pt x="1944769" y="1536700"/>
                  </a:lnTo>
                  <a:lnTo>
                    <a:pt x="0" y="15367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1944769" cy="154622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9000"/>
                </a:lnSpc>
              </a:pPr>
              <a:r>
                <a:rPr lang="en-US" sz="750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06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639693" y="5334170"/>
            <a:ext cx="7675407" cy="687705"/>
            <a:chOff x="0" y="0"/>
            <a:chExt cx="10233876" cy="9169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233876" cy="916940"/>
            </a:xfrm>
            <a:custGeom>
              <a:avLst/>
              <a:gdLst/>
              <a:ahLst/>
              <a:cxnLst/>
              <a:rect r="r" b="b" t="t" l="l"/>
              <a:pathLst>
                <a:path h="916940" w="10233876">
                  <a:moveTo>
                    <a:pt x="0" y="0"/>
                  </a:moveTo>
                  <a:lnTo>
                    <a:pt x="10233876" y="0"/>
                  </a:lnTo>
                  <a:lnTo>
                    <a:pt x="10233876" y="916940"/>
                  </a:lnTo>
                  <a:lnTo>
                    <a:pt x="0" y="9169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10233876" cy="94551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2730"/>
                </a:lnSpc>
              </a:pPr>
              <a:r>
                <a:rPr lang="en-US" sz="210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✔ Automation &amp; Efficiency – Handles large datasets, speeds up research workflows.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639693" y="729025"/>
            <a:ext cx="8239451" cy="687705"/>
            <a:chOff x="0" y="0"/>
            <a:chExt cx="10985935" cy="9169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85935" cy="916940"/>
            </a:xfrm>
            <a:custGeom>
              <a:avLst/>
              <a:gdLst/>
              <a:ahLst/>
              <a:cxnLst/>
              <a:rect r="r" b="b" t="t" l="l"/>
              <a:pathLst>
                <a:path h="916940" w="10985935">
                  <a:moveTo>
                    <a:pt x="0" y="0"/>
                  </a:moveTo>
                  <a:lnTo>
                    <a:pt x="10985935" y="0"/>
                  </a:lnTo>
                  <a:lnTo>
                    <a:pt x="10985935" y="916940"/>
                  </a:lnTo>
                  <a:lnTo>
                    <a:pt x="0" y="9169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10985935" cy="94551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2730"/>
                </a:lnSpc>
              </a:pPr>
              <a:r>
                <a:rPr lang="en-US" sz="210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✔ Easy to Learn &amp; Use – Simple syntax, readable code, great for collaboration.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639693" y="6871335"/>
            <a:ext cx="7675407" cy="687705"/>
            <a:chOff x="0" y="0"/>
            <a:chExt cx="10233876" cy="9169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233876" cy="916940"/>
            </a:xfrm>
            <a:custGeom>
              <a:avLst/>
              <a:gdLst/>
              <a:ahLst/>
              <a:cxnLst/>
              <a:rect r="r" b="b" t="t" l="l"/>
              <a:pathLst>
                <a:path h="916940" w="10233876">
                  <a:moveTo>
                    <a:pt x="0" y="0"/>
                  </a:moveTo>
                  <a:lnTo>
                    <a:pt x="10233876" y="0"/>
                  </a:lnTo>
                  <a:lnTo>
                    <a:pt x="10233876" y="916940"/>
                  </a:lnTo>
                  <a:lnTo>
                    <a:pt x="0" y="9169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10233876" cy="94551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2730"/>
                </a:lnSpc>
              </a:pPr>
              <a:r>
                <a:rPr lang="en-US" sz="210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✔ Versatile &amp; Widely Used – Applied in various fields: science, finance, social sciences, etc.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639693" y="2266190"/>
            <a:ext cx="7981469" cy="687705"/>
            <a:chOff x="0" y="0"/>
            <a:chExt cx="10641959" cy="9169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641959" cy="916940"/>
            </a:xfrm>
            <a:custGeom>
              <a:avLst/>
              <a:gdLst/>
              <a:ahLst/>
              <a:cxnLst/>
              <a:rect r="r" b="b" t="t" l="l"/>
              <a:pathLst>
                <a:path h="916940" w="10641959">
                  <a:moveTo>
                    <a:pt x="0" y="0"/>
                  </a:moveTo>
                  <a:lnTo>
                    <a:pt x="10641959" y="0"/>
                  </a:lnTo>
                  <a:lnTo>
                    <a:pt x="10641959" y="916940"/>
                  </a:lnTo>
                  <a:lnTo>
                    <a:pt x="0" y="9169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10641959" cy="94551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2730"/>
                </a:lnSpc>
              </a:pPr>
              <a:r>
                <a:rPr lang="en-US" sz="210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✔ Powerful Libraries – NumPy, Pandas, Matplotlib, SciPy, and more for data analysis, visualization, and machine learning.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639693" y="8405325"/>
            <a:ext cx="8497725" cy="687705"/>
            <a:chOff x="0" y="0"/>
            <a:chExt cx="11330300" cy="9169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330300" cy="916940"/>
            </a:xfrm>
            <a:custGeom>
              <a:avLst/>
              <a:gdLst/>
              <a:ahLst/>
              <a:cxnLst/>
              <a:rect r="r" b="b" t="t" l="l"/>
              <a:pathLst>
                <a:path h="916940" w="11330300">
                  <a:moveTo>
                    <a:pt x="0" y="0"/>
                  </a:moveTo>
                  <a:lnTo>
                    <a:pt x="11330300" y="0"/>
                  </a:lnTo>
                  <a:lnTo>
                    <a:pt x="11330300" y="916940"/>
                  </a:lnTo>
                  <a:lnTo>
                    <a:pt x="0" y="9169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11330300" cy="94551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2730"/>
                </a:lnSpc>
              </a:pPr>
              <a:r>
                <a:rPr lang="en-US" sz="210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✔ Strong Community Support – Open-source, extensive documentation, and global adoption.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8639693" y="3800180"/>
            <a:ext cx="7981469" cy="687705"/>
            <a:chOff x="0" y="0"/>
            <a:chExt cx="10641959" cy="9169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641959" cy="916940"/>
            </a:xfrm>
            <a:custGeom>
              <a:avLst/>
              <a:gdLst/>
              <a:ahLst/>
              <a:cxnLst/>
              <a:rect r="r" b="b" t="t" l="l"/>
              <a:pathLst>
                <a:path h="916940" w="10641959">
                  <a:moveTo>
                    <a:pt x="0" y="0"/>
                  </a:moveTo>
                  <a:lnTo>
                    <a:pt x="10641959" y="0"/>
                  </a:lnTo>
                  <a:lnTo>
                    <a:pt x="10641959" y="916940"/>
                  </a:lnTo>
                  <a:lnTo>
                    <a:pt x="0" y="9169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10641959" cy="94551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2730"/>
                </a:lnSpc>
              </a:pPr>
              <a:r>
                <a:rPr lang="en-US" sz="210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✔ Reproducibility &amp; Open Science – Jupyter Notebooks enable interactive coding and documentation.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63609" y="763609"/>
            <a:ext cx="5076245" cy="3286125"/>
            <a:chOff x="0" y="0"/>
            <a:chExt cx="6768327" cy="43815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768326" cy="4381500"/>
            </a:xfrm>
            <a:custGeom>
              <a:avLst/>
              <a:gdLst/>
              <a:ahLst/>
              <a:cxnLst/>
              <a:rect r="r" b="b" t="t" l="l"/>
              <a:pathLst>
                <a:path h="4381500" w="6768326">
                  <a:moveTo>
                    <a:pt x="0" y="0"/>
                  </a:moveTo>
                  <a:lnTo>
                    <a:pt x="6768326" y="0"/>
                  </a:lnTo>
                  <a:lnTo>
                    <a:pt x="6768326" y="4381500"/>
                  </a:lnTo>
                  <a:lnTo>
                    <a:pt x="0" y="43815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6768327" cy="438150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Why Python for researchers?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947955"/>
            <a:ext cx="7873442" cy="6929755"/>
            <a:chOff x="0" y="0"/>
            <a:chExt cx="10497923" cy="92396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497923" cy="9239673"/>
            </a:xfrm>
            <a:custGeom>
              <a:avLst/>
              <a:gdLst/>
              <a:ahLst/>
              <a:cxnLst/>
              <a:rect r="r" b="b" t="t" l="l"/>
              <a:pathLst>
                <a:path h="9239673" w="10497923">
                  <a:moveTo>
                    <a:pt x="0" y="0"/>
                  </a:moveTo>
                  <a:lnTo>
                    <a:pt x="10497923" y="0"/>
                  </a:lnTo>
                  <a:lnTo>
                    <a:pt x="10497923" y="9239673"/>
                  </a:lnTo>
                  <a:lnTo>
                    <a:pt x="0" y="92396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10497923" cy="930634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919"/>
                </a:lnSpc>
              </a:pPr>
              <a:r>
                <a:rPr lang="en-US" sz="2799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🧮 NumPy</a:t>
              </a:r>
            </a:p>
            <a:p>
              <a:pPr algn="l" marL="639958" indent="-213319" lvl="2">
                <a:lnSpc>
                  <a:spcPts val="3919"/>
                </a:lnSpc>
                <a:buFont typeface="Arial"/>
                <a:buChar char="⚬"/>
              </a:pPr>
              <a:r>
                <a:rPr lang="en-US" sz="2799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Fast array operations</a:t>
              </a:r>
            </a:p>
            <a:p>
              <a:pPr algn="l" marL="639958" indent="-213319" lvl="2">
                <a:lnSpc>
                  <a:spcPts val="3919"/>
                </a:lnSpc>
                <a:buFont typeface="Arial"/>
                <a:buChar char="⚬"/>
              </a:pPr>
              <a:r>
                <a:rPr lang="en-US" sz="2799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Linear algebra, FFT, random number generation</a:t>
              </a:r>
            </a:p>
            <a:p>
              <a:pPr algn="l" marL="639958" indent="-213319" lvl="2">
                <a:lnSpc>
                  <a:spcPts val="3919"/>
                </a:lnSpc>
              </a:pPr>
            </a:p>
            <a:p>
              <a:pPr algn="l" marL="639958" indent="-213319" lvl="2">
                <a:lnSpc>
                  <a:spcPts val="3919"/>
                </a:lnSpc>
              </a:pPr>
              <a:r>
                <a:rPr lang="en-US" sz="2799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📊 Pandas</a:t>
              </a:r>
            </a:p>
            <a:p>
              <a:pPr algn="l" marL="639958" indent="-213319" lvl="2">
                <a:lnSpc>
                  <a:spcPts val="3919"/>
                </a:lnSpc>
                <a:buFont typeface="Arial"/>
                <a:buChar char="⚬"/>
              </a:pPr>
              <a:r>
                <a:rPr lang="en-US" sz="2799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Powerful data structures (Series, DataFrame)</a:t>
              </a:r>
            </a:p>
            <a:p>
              <a:pPr algn="l" marL="639958" indent="-213319" lvl="2">
                <a:lnSpc>
                  <a:spcPts val="3919"/>
                </a:lnSpc>
                <a:buFont typeface="Arial"/>
                <a:buChar char="⚬"/>
              </a:pPr>
              <a:r>
                <a:rPr lang="en-US" sz="2799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Easy data cleaning, transformation, and analysis</a:t>
              </a:r>
            </a:p>
            <a:p>
              <a:pPr algn="l" marL="639958" indent="-213319" lvl="2">
                <a:lnSpc>
                  <a:spcPts val="3919"/>
                </a:lnSpc>
              </a:pPr>
            </a:p>
            <a:p>
              <a:pPr algn="l" marL="639958" indent="-213319" lvl="2">
                <a:lnSpc>
                  <a:spcPts val="3919"/>
                </a:lnSpc>
              </a:pPr>
              <a:r>
                <a:rPr lang="en-US" sz="2799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📈 Matplotlib &amp; Seaborn</a:t>
              </a:r>
            </a:p>
            <a:p>
              <a:pPr algn="l" marL="1143725" indent="-285931" lvl="3">
                <a:lnSpc>
                  <a:spcPts val="3919"/>
                </a:lnSpc>
                <a:buFont typeface="Arial"/>
                <a:buChar char="￭"/>
              </a:pPr>
              <a:r>
                <a:rPr lang="en-US" sz="2799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Data visualization (plots, charts, graphs)</a:t>
              </a:r>
            </a:p>
            <a:p>
              <a:pPr algn="l" marL="1143725" indent="-285931" lvl="3">
                <a:lnSpc>
                  <a:spcPts val="3919"/>
                </a:lnSpc>
                <a:buFont typeface="Arial"/>
                <a:buChar char="￭"/>
              </a:pPr>
              <a:r>
                <a:rPr lang="en-US" sz="2799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Seaborn builds on Matplotlib for better visuals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85879" y="726851"/>
            <a:ext cx="16730440" cy="1477670"/>
            <a:chOff x="0" y="0"/>
            <a:chExt cx="22307253" cy="197022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307254" cy="1970227"/>
            </a:xfrm>
            <a:custGeom>
              <a:avLst/>
              <a:gdLst/>
              <a:ahLst/>
              <a:cxnLst/>
              <a:rect r="r" b="b" t="t" l="l"/>
              <a:pathLst>
                <a:path h="1970227" w="22307254">
                  <a:moveTo>
                    <a:pt x="0" y="0"/>
                  </a:moveTo>
                  <a:lnTo>
                    <a:pt x="22307254" y="0"/>
                  </a:lnTo>
                  <a:lnTo>
                    <a:pt x="22307254" y="1970227"/>
                  </a:lnTo>
                  <a:lnTo>
                    <a:pt x="0" y="19702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133350"/>
              <a:ext cx="22307253" cy="183687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720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Overview of Python libraries for research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742877" y="2947955"/>
            <a:ext cx="7873442" cy="6929755"/>
            <a:chOff x="0" y="0"/>
            <a:chExt cx="10497923" cy="923967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497923" cy="9239673"/>
            </a:xfrm>
            <a:custGeom>
              <a:avLst/>
              <a:gdLst/>
              <a:ahLst/>
              <a:cxnLst/>
              <a:rect r="r" b="b" t="t" l="l"/>
              <a:pathLst>
                <a:path h="9239673" w="10497923">
                  <a:moveTo>
                    <a:pt x="0" y="0"/>
                  </a:moveTo>
                  <a:lnTo>
                    <a:pt x="10497923" y="0"/>
                  </a:lnTo>
                  <a:lnTo>
                    <a:pt x="10497923" y="9239673"/>
                  </a:lnTo>
                  <a:lnTo>
                    <a:pt x="0" y="92396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10497923" cy="930634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919"/>
                </a:lnSpc>
              </a:pPr>
              <a:r>
                <a:rPr lang="en-US" sz="2799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🧪 SciPy</a:t>
              </a:r>
            </a:p>
            <a:p>
              <a:pPr algn="l" marL="639958" indent="-213319" lvl="2">
                <a:lnSpc>
                  <a:spcPts val="3919"/>
                </a:lnSpc>
                <a:buFont typeface="Arial"/>
                <a:buChar char="⚬"/>
              </a:pPr>
              <a:r>
                <a:rPr lang="en-US" sz="2799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Scientific computing</a:t>
              </a:r>
            </a:p>
            <a:p>
              <a:pPr algn="l" marL="639958" indent="-213319" lvl="2">
                <a:lnSpc>
                  <a:spcPts val="3919"/>
                </a:lnSpc>
                <a:buFont typeface="Arial"/>
                <a:buChar char="⚬"/>
              </a:pPr>
              <a:r>
                <a:rPr lang="en-US" sz="2799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Optimization, integration, stats, signal processing</a:t>
              </a:r>
            </a:p>
            <a:p>
              <a:pPr algn="l" marL="639958" indent="-213319" lvl="2">
                <a:lnSpc>
                  <a:spcPts val="3919"/>
                </a:lnSpc>
              </a:pPr>
            </a:p>
            <a:p>
              <a:pPr algn="l" marL="639958" indent="-213319" lvl="2">
                <a:lnSpc>
                  <a:spcPts val="3919"/>
                </a:lnSpc>
              </a:pPr>
              <a:r>
                <a:rPr lang="en-US" sz="2799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🤖 Scikit-learn</a:t>
              </a:r>
            </a:p>
            <a:p>
              <a:pPr algn="l" marL="639958" indent="-213319" lvl="2">
                <a:lnSpc>
                  <a:spcPts val="3919"/>
                </a:lnSpc>
                <a:buFont typeface="Arial"/>
                <a:buChar char="⚬"/>
              </a:pPr>
              <a:r>
                <a:rPr lang="en-US" sz="2799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Machine learning (classification, regression, clustering)</a:t>
              </a:r>
            </a:p>
            <a:p>
              <a:pPr algn="l" marL="639958" indent="-213319" lvl="2">
                <a:lnSpc>
                  <a:spcPts val="3919"/>
                </a:lnSpc>
                <a:buFont typeface="Arial"/>
                <a:buChar char="⚬"/>
              </a:pPr>
              <a:r>
                <a:rPr lang="en-US" sz="2799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Simple API for common ML tasks</a:t>
              </a:r>
            </a:p>
            <a:p>
              <a:pPr algn="l" marL="639958" indent="-213319" lvl="2">
                <a:lnSpc>
                  <a:spcPts val="3919"/>
                </a:lnSpc>
              </a:pPr>
            </a:p>
            <a:p>
              <a:pPr algn="l" marL="639958" indent="-213319" lvl="2">
                <a:lnSpc>
                  <a:spcPts val="3919"/>
                </a:lnSpc>
              </a:pPr>
              <a:r>
                <a:rPr lang="en-US" sz="2799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📓 Jupyter Notebook</a:t>
              </a:r>
            </a:p>
            <a:p>
              <a:pPr algn="l" marL="639958" indent="-213319" lvl="2">
                <a:lnSpc>
                  <a:spcPts val="3919"/>
                </a:lnSpc>
                <a:buFont typeface="Arial"/>
                <a:buChar char="⚬"/>
              </a:pPr>
              <a:r>
                <a:rPr lang="en-US" sz="2799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Interactive coding with visuals and documentation in one place</a:t>
              </a:r>
            </a:p>
            <a:p>
              <a:pPr algn="l" marL="639958" indent="-213319" lvl="2">
                <a:lnSpc>
                  <a:spcPts val="3919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DAG8aTQsEYA</dc:identifier>
  <dcterms:modified xsi:type="dcterms:W3CDTF">2011-08-01T06:04:30Z</dcterms:modified>
  <cp:revision>1</cp:revision>
  <dc:title>Session 1.pptx</dc:title>
</cp:coreProperties>
</file>